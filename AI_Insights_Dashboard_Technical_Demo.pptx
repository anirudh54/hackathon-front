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BDF8"/>
                </a:solidFill>
                <a:latin typeface="Calibri"/>
              </a:rPr>
              <a:t>TECHNICAL OVERVIEW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1F5F9"/>
                </a:solidFill>
                <a:latin typeface="Calibri"/>
              </a:rPr>
              <a:t>AI Insights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94A3B8"/>
                </a:solidFill>
                <a:latin typeface="Calibri"/>
              </a:rPr>
              <a:t>A conversational analytics layer over NIPT lab data — natural language in,</a:t>
            </a:r>
          </a:p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94A3B8"/>
                </a:solidFill>
                <a:latin typeface="Calibri"/>
              </a:rPr>
              <a:t>live BigQuery SQL and charts out, powered by Gemini.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1307592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8BDF8"/>
                </a:solidFill>
              </a:rPr>
              <a:t>Angular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13432" y="4709160"/>
            <a:ext cx="1728216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34D399"/>
                </a:solidFill>
              </a:rPr>
              <a:t>Node / 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4709160"/>
            <a:ext cx="1938528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A78BFA"/>
                </a:solidFill>
              </a:rPr>
              <a:t>Gemini 2.5 Flash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4709160"/>
            <a:ext cx="1097280" cy="4572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BBF24"/>
                </a:solidFill>
              </a:rPr>
              <a:t>BigQuery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Hackathon project  ·  Prenatal screening (NIPT) results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What the product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49240" cy="19659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09728" cy="1965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Ask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Users type questions like "which batch has the most grayzone samples?" — no SQL knowledge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49240" cy="19659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09728" cy="1965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81051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Live SQL, not canned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Gemini translates each request into a read-only BigQuery query, runs it, and returns real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49240" cy="19659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935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Charts + prose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Chart requests render on a dashboard; data questions get an analyst-style written answer.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109728" cy="1965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95935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AI insight captions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26280"/>
            <a:ext cx="4709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94A3B8"/>
                </a:solidFill>
                <a:latin typeface="Calibri"/>
              </a:rPr>
              <a:t>A second Gemini pass summarizes each result in one line and suggests follow-up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High-level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286000" cy="10515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Browser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Angular 20 SPA ·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48840"/>
            <a:ext cx="2286000" cy="105156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Express API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Node · SSE · :3000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2377440" cy="9144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Gemini 2.5 Flash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Vertex AI · text-to-SQL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154680"/>
            <a:ext cx="2377440" cy="9144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BigQuery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NIPT results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3154680"/>
            <a:ext cx="2286000" cy="91440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NIPT dataset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~107k rows · fixed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674620"/>
            <a:ext cx="64008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715000" y="1691640"/>
            <a:ext cx="640080" cy="73152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2926080"/>
            <a:ext cx="640080" cy="685800"/>
          </a:xfrm>
          <a:prstGeom prst="line">
            <a:avLst/>
          </a:prstGeom>
          <a:ln w="22225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32520" y="3611880"/>
            <a:ext cx="640080" cy="0"/>
          </a:xfrm>
          <a:prstGeom prst="line">
            <a:avLst/>
          </a:prstGeom>
          <a:ln w="22225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337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Calibri"/>
              </a:rPr>
              <a:t>◀  Streamed back as Server-Sent Events (status · delta · chart · error · done)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11155680" cy="566928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91440" cy="5669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72584"/>
            <a:ext cx="9235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Angular dev server proxies /api/* → :3000 (proxy.conf.json)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76088"/>
            <a:ext cx="11155680" cy="566928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276088"/>
            <a:ext cx="9144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30952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30952"/>
            <a:ext cx="9235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Vertex AI + BigQuery share Application Default Credentials — no API 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34456"/>
            <a:ext cx="11155680" cy="566928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934456"/>
            <a:ext cx="91440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BF24"/>
                </a:solidFill>
                <a:latin typeface="Calibri"/>
              </a:rPr>
              <a:t>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989320"/>
            <a:ext cx="9235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One fixed NIPT_SCHEMA is the single source of truth for prompt + query guard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The /chat request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011680" cy="8686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User message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POST /api/chat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00200"/>
            <a:ext cx="2286000" cy="8686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generateSql()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Gemini classifies intent</a:t>
            </a:r>
          </a:p>
        </p:txBody>
      </p:sp>
      <p:sp>
        <p:nvSpPr>
          <p:cNvPr id="8" name="Diamond 7"/>
          <p:cNvSpPr/>
          <p:nvPr/>
        </p:nvSpPr>
        <p:spPr>
          <a:xfrm>
            <a:off x="5623560" y="1417320"/>
            <a:ext cx="2011680" cy="1234440"/>
          </a:xfrm>
          <a:prstGeom prst="diamond">
            <a:avLst/>
          </a:prstGeom>
          <a:solidFill>
            <a:srgbClr val="1B263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1F5F9"/>
                </a:solidFill>
              </a:rPr>
              <a:t>Intent?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034540"/>
            <a:ext cx="365760" cy="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66360" y="2034540"/>
            <a:ext cx="457200" cy="0"/>
          </a:xfrm>
          <a:prstGeom prst="line">
            <a:avLst/>
          </a:prstGeom>
          <a:ln w="22225">
            <a:solidFill>
              <a:srgbClr val="A78B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3383280"/>
            <a:ext cx="3566160" cy="8686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CHART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wantsChart · render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83280"/>
            <a:ext cx="3566160" cy="8686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DATA QUESTION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wantsData · prose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383280"/>
            <a:ext cx="3566160" cy="868680"/>
          </a:xfrm>
          <a:prstGeom prst="roundRect">
            <a:avLst/>
          </a:prstGeom>
          <a:solidFill>
            <a:srgbClr val="1B26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300" b="1">
                <a:solidFill>
                  <a:srgbClr val="F1F5F9"/>
                </a:solidFill>
              </a:rPr>
              <a:t>CHAT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greeting / help · fallback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86000" y="2651760"/>
            <a:ext cx="4343400" cy="73152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80760" y="2651760"/>
            <a:ext cx="548640" cy="73152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29400" y="2651760"/>
            <a:ext cx="3246120" cy="73152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709160"/>
            <a:ext cx="3566160" cy="12801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18888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runQuery() → safe SELECT guard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shapeRows() → chart data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generateInsight() → caption + follow-ups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emit  chart 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709160"/>
            <a:ext cx="3566160" cy="12801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818888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runQuery() → rows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analyzeDataStream() → grounded,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analyst-style written answer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streamed as  delta 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709160"/>
            <a:ext cx="3566160" cy="128016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818888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askGeminiStream()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plain conversational reply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streamed as  delta  events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(no SQL executed)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86000" y="4251960"/>
            <a:ext cx="0" cy="457200"/>
          </a:xfrm>
          <a:prstGeom prst="line">
            <a:avLst/>
          </a:prstGeom>
          <a:ln w="22225">
            <a:solidFill>
              <a:srgbClr val="38BDF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4251960"/>
            <a:ext cx="0" cy="457200"/>
          </a:xfrm>
          <a:prstGeom prst="line">
            <a:avLst/>
          </a:prstGeom>
          <a:ln w="2222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875520" y="4251960"/>
            <a:ext cx="0" cy="45720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TECH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103120" cy="566928"/>
          </a:xfrm>
          <a:prstGeom prst="rect">
            <a:avLst/>
          </a:prstGeom>
          <a:solidFill>
            <a:srgbClr val="38BDF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300" b="1">
                <a:solidFill>
                  <a:srgbClr val="0F172A"/>
                </a:solidFill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508760"/>
            <a:ext cx="4114800" cy="566928"/>
          </a:xfrm>
          <a:prstGeom prst="rect">
            <a:avLst/>
          </a:prstGeom>
          <a:solidFill>
            <a:srgbClr val="38BDF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300" b="1">
                <a:solidFill>
                  <a:srgbClr val="0F172A"/>
                </a:solidFill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508760"/>
            <a:ext cx="4873752" cy="566928"/>
          </a:xfrm>
          <a:prstGeom prst="rect">
            <a:avLst/>
          </a:prstGeom>
          <a:solidFill>
            <a:srgbClr val="38BDF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300" b="1">
                <a:solidFill>
                  <a:srgbClr val="0F172A"/>
                </a:solidFill>
              </a:rPr>
              <a:t>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5688"/>
            <a:ext cx="210312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2075688"/>
            <a:ext cx="411480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Angular 20 (standalone, signals)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075688"/>
            <a:ext cx="4873752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Zoneless-style reactive state, computed KPIs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42616"/>
            <a:ext cx="210312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642616"/>
            <a:ext cx="411480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Apache ECharts 5.6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642616"/>
            <a:ext cx="4873752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bar · line · pie · doughnut · scatter · histogram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210312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Transport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209544"/>
            <a:ext cx="411480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Server-Sent Events (SSE)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209544"/>
            <a:ext cx="4873752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status / delta / chart / error / 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76472"/>
            <a:ext cx="210312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776472"/>
            <a:ext cx="411480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Node + Express 4 (TypeScript, ESM)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776472"/>
            <a:ext cx="4873752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run via tsx; single /api 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210312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4343400"/>
            <a:ext cx="411480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Gemini 2.5 Flash on Vertex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343400"/>
            <a:ext cx="4873752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@google/genai · structured JSON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10328"/>
            <a:ext cx="210312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4910328"/>
            <a:ext cx="4114800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Google BigQuery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910328"/>
            <a:ext cx="4873752" cy="566928"/>
          </a:xfrm>
          <a:prstGeom prst="rect">
            <a:avLst/>
          </a:prstGeom>
          <a:solidFill>
            <a:srgbClr val="162033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@google-cloud/bigquery · read-only SELECT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77256"/>
            <a:ext cx="210312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1">
                <a:solidFill>
                  <a:srgbClr val="F1F5F9"/>
                </a:solidFill>
              </a:rPr>
              <a:t>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5477256"/>
            <a:ext cx="4114800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Application Default Credentials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5477256"/>
            <a:ext cx="4873752" cy="566928"/>
          </a:xfrm>
          <a:prstGeom prst="rect">
            <a:avLst/>
          </a:prstGeom>
          <a:solidFill>
            <a:srgbClr val="1B26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ctr"/>
            <a:r>
              <a:rPr sz="1250" b="0">
                <a:solidFill>
                  <a:srgbClr val="94A3B8"/>
                </a:solidFill>
              </a:rPr>
              <a:t>shared by Vertex AI + BigQuery, no API keys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Natural language → BigQuery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Single structured call.</a:t>
            </a:r>
            <a:r>
              <a:rPr sz="1350">
                <a:solidFill>
                  <a:srgbClr val="94A3B8"/>
                </a:solidFill>
              </a:rPr>
              <a:t>  generateSql() sends the fixed schema + question and gets back typed JSON: wantsChart, wantsData, sql, chartType, title, stacked.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Intent routing.</a:t>
            </a:r>
            <a:r>
              <a:rPr sz="1350">
                <a:solidFill>
                  <a:srgbClr val="94A3B8"/>
                </a:solidFill>
              </a:rPr>
              <a:t>  One of three intents — CHART, DATA QUESTION, or CHAT — decides the downstream path.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Schema-grounded.</a:t>
            </a:r>
            <a:r>
              <a:rPr sz="1350">
                <a:solidFill>
                  <a:srgbClr val="94A3B8"/>
                </a:solidFill>
              </a:rPr>
              <a:t>  The prompt lists every column with its BigQuery type, so the model quotes spaced names and casts correctly.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Conversation memory.</a:t>
            </a:r>
            <a:r>
              <a:rPr sz="1350">
                <a:solidFill>
                  <a:srgbClr val="94A3B8"/>
                </a:solidFill>
              </a:rPr>
              <a:t>  Last 10 turns + the previous chart's SQL are passed, so "same but as a pie chart" works.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Enforced output shapes.</a:t>
            </a:r>
            <a:r>
              <a:rPr sz="1350">
                <a:solidFill>
                  <a:srgbClr val="94A3B8"/>
                </a:solidFill>
              </a:rPr>
              <a:t>  single-series · grouped/stacked · scatter (x/y) · histogram buckets — keeps results chart-ready.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49240" cy="4480560"/>
          </a:xfrm>
          <a:prstGeom prst="roundRect">
            <a:avLst/>
          </a:prstGeom>
          <a:solidFill>
            <a:srgbClr val="0B112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alibri"/>
              </a:rPr>
              <a:t>Structured response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9456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wantsChart:  boolean,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wantsData:   boolean,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sql:         string,   // read-only SELECT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chartType:   'bar' | 'line' | 'pie' |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             'doughnut' | 'scatter',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title:       string,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stacked:     boolean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// Example generated SQL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SELECT Version AS label,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COUNTIF(RapidR_flag) AS repeated,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  COUNT(*)            AS total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FROM `nipt_results`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34D399"/>
                </a:solidFill>
                <a:latin typeface="Consolas"/>
              </a:rPr>
              <a:t>GROUP BY Version;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Read-only query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SELECT / WITH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6771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assertSafeSelect() rejects anything not starting with SELECT or WITH.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Calibri"/>
              </a:rPr>
              <a:t>Keyword denylist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6771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INSERT, UPDATE, DELETE, DROP, ALTER, CREATE, MERGE, TRUNCATE, GRANT, REVOKE, CALL are blocked.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556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8BDF8"/>
                </a:solidFill>
                <a:latin typeface="Calibri"/>
              </a:rPr>
              <a:t>Single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6771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Stray semicolons that would chain a second statement are rejected.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67588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78BFA"/>
                </a:solidFill>
                <a:latin typeface="Calibri"/>
              </a:rPr>
              <a:t>Table pinning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879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Every query must reference the one configured NIPT table — no cross-table reads.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7472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67588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4D399"/>
                </a:solidFill>
                <a:latin typeface="Calibri"/>
              </a:rPr>
              <a:t>Row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1879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withLimitCap() appends LIMIT 500 when the model omits 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474720"/>
            <a:ext cx="3611880" cy="1600200"/>
          </a:xfrm>
          <a:prstGeom prst="roundRect">
            <a:avLst/>
          </a:prstGeom>
          <a:solidFill>
            <a:srgbClr val="1B263B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67588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BBF24"/>
                </a:solidFill>
                <a:latin typeface="Calibri"/>
              </a:rPr>
              <a:t>Escaped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187952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Client-supplied date/gender/batch filters are validated &amp; escaped before injection.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4A3B8"/>
                </a:solidFill>
                <a:latin typeface="Calibri"/>
              </a:rPr>
              <a:t>Defense-in-depth — the BigQuery service account should also be scoped to read-only on this one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Frontend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532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Signals everywhere.</a:t>
            </a:r>
            <a:r>
              <a:rPr sz="1350">
                <a:solidFill>
                  <a:srgbClr val="94A3B8"/>
                </a:solidFill>
              </a:rPr>
              <a:t>  messages, charts, loading, streaming, status are signals; KPIs &amp; sorted charts are computed().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Streaming chat.</a:t>
            </a:r>
            <a:r>
              <a:rPr sz="1350">
                <a:solidFill>
                  <a:srgbClr val="94A3B8"/>
                </a:solidFill>
              </a:rPr>
              <a:t>  SSE deltas append into the last bot bubble live; a status line drives the typing indicator.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Dashboard cards.</a:t>
            </a:r>
            <a:r>
              <a:rPr sz="1350">
                <a:solidFill>
                  <a:srgbClr val="94A3B8"/>
                </a:solidFill>
              </a:rPr>
              <a:t>  Each chart is a card: pin, remove, drag-reorder, re-run SQL, live auto-refresh (60s), table/CSV toggle.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Drill-down.</a:t>
            </a:r>
            <a:r>
              <a:rPr sz="1350">
                <a:solidFill>
                  <a:srgbClr val="94A3B8"/>
                </a:solidFill>
              </a:rPr>
              <a:t>  Clicking a bar/slice auto-issues a follow-up query for that segment, reusing the chart's SQL.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Global filters.</a:t>
            </a:r>
            <a:r>
              <a:rPr sz="1350">
                <a:solidFill>
                  <a:srgbClr val="94A3B8"/>
                </a:solidFill>
              </a:rPr>
              <a:t>  Date range / gender / batch are injected into every stored SQL and re-run across the board.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50" b="1">
                <a:solidFill>
                  <a:srgbClr val="38BDF8"/>
                </a:solidFill>
              </a:rPr>
              <a:t>▸ </a:t>
            </a:r>
            <a:r>
              <a:rPr sz="1350" b="1">
                <a:solidFill>
                  <a:srgbClr val="F1F5F9"/>
                </a:solidFill>
              </a:rPr>
              <a:t>Persistence.</a:t>
            </a:r>
            <a:r>
              <a:rPr sz="1350">
                <a:solidFill>
                  <a:srgbClr val="94A3B8"/>
                </a:solidFill>
              </a:rPr>
              <a:t>  Charts + transcript survive refresh via localStorage; Clear resets to defaults.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2560320" cy="205740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84248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8BDF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971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starter charts on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00200"/>
            <a:ext cx="2560320" cy="205740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984248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A78BFA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9718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chart types supported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931920"/>
            <a:ext cx="2560320" cy="205740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315968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34D399"/>
                </a:solidFill>
                <a:latin typeface="Calibri"/>
              </a:rPr>
              <a:t>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303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live refresh interval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931920"/>
            <a:ext cx="2560320" cy="2057400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315968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FBBF24"/>
                </a:solidFill>
                <a:latin typeface="Calibri"/>
              </a:rPr>
              <a:t>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303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row safety cap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8BDF8"/>
                </a:solidFill>
                <a:latin typeface="Calibri"/>
              </a:rPr>
              <a:t>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1F5F9"/>
                </a:solidFill>
                <a:latin typeface="Calibri"/>
              </a:rPr>
              <a:t>Server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71600" cy="381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91672" cy="786384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51560" cy="42062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92224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onsolas"/>
              </a:rPr>
              <a:t>/api/chat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92224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Chat, streamed as SSE — status / delta / chart / error /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11091672" cy="786384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24912"/>
            <a:ext cx="1051560" cy="420624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88336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onsolas"/>
              </a:rPr>
              <a:t>/api/query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88336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Re-run a chart's stored SQL, optionally with global filters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38144"/>
            <a:ext cx="11091672" cy="786384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621024"/>
            <a:ext cx="1051560" cy="42062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84448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onsolas"/>
              </a:rPr>
              <a:t>/api/default-charts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584448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Two starter charts: runs/day (last month) + samples-per-run by grayzone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34256"/>
            <a:ext cx="11091672" cy="786384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517136"/>
            <a:ext cx="1051560" cy="42062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8056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onsolas"/>
              </a:rPr>
              <a:t>/api/qc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480560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Canned QC chart — grayzone rate by batch, outliers flagged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30368"/>
            <a:ext cx="11091672" cy="786384"/>
          </a:xfrm>
          <a:prstGeom prst="roundRect">
            <a:avLst/>
          </a:prstGeom>
          <a:solidFill>
            <a:srgbClr val="1B26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413248"/>
            <a:ext cx="1051560" cy="420624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76672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onsolas"/>
              </a:rPr>
              <a:t>/api/batches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376672"/>
            <a:ext cx="6400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4A3B8"/>
                </a:solidFill>
                <a:latin typeface="Calibri"/>
              </a:rPr>
              <a:t>Distinct batch ids for the global filter dropdown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8016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8BDF8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1F5F9"/>
                </a:solidFill>
                <a:latin typeface="Calibri"/>
              </a:rPr>
              <a:t>What to show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2140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Ask a data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21408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"A sample is repeated if RapidR_flag is Yes — how many were repeated, and does version change the rate?" → analyst-style written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07208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Ask for a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79776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"Sample count by batch as a bar chart" → live BigQuery query renders on the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65576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4381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Refine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38144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"Same thing but split by grayzone, stacked" → conversation memory reuses the last 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23944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96512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Drill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96512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Click a bar → auto follow-up query for that segment.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82312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Show the 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54880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Expand a card's footer to reveal the exact generated SQL; note the read-only guard.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440680"/>
            <a:ext cx="457200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1324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QC view +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13248"/>
            <a:ext cx="7040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One-click grayzone-rate-by-batch with outliers flagged; apply a date/batch filter across all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